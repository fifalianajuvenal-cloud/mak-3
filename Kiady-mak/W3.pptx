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71" r:id="rId3"/>
    <p:sldId id="262" r:id="rId4"/>
    <p:sldId id="264" r:id="rId5"/>
    <p:sldId id="266" r:id="rId6"/>
    <p:sldId id="267" r:id="rId7"/>
    <p:sldId id="268" r:id="rId8"/>
    <p:sldId id="269" r:id="rId9"/>
    <p:sldId id="270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23" autoAdjust="0"/>
    <p:restoredTop sz="94660"/>
  </p:normalViewPr>
  <p:slideViewPr>
    <p:cSldViewPr snapToGrid="0">
      <p:cViewPr varScale="1">
        <p:scale>
          <a:sx n="87" d="100"/>
          <a:sy n="87" d="100"/>
        </p:scale>
        <p:origin x="76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25BC4532-6618-4E33-B051-875F5D48D458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1ED3D71F-2003-4B44-AF8C-F296F06DE1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8461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4532-6618-4E33-B051-875F5D48D458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3D71F-2003-4B44-AF8C-F296F06DE1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15709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4532-6618-4E33-B051-875F5D48D458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3D71F-2003-4B44-AF8C-F296F06DE1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0711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4532-6618-4E33-B051-875F5D48D458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3D71F-2003-4B44-AF8C-F296F06DE1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8636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4532-6618-4E33-B051-875F5D48D458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3D71F-2003-4B44-AF8C-F296F06DE1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8680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4532-6618-4E33-B051-875F5D48D458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3D71F-2003-4B44-AF8C-F296F06DE1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83369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4532-6618-4E33-B051-875F5D48D458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3D71F-2003-4B44-AF8C-F296F06DE1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33151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4532-6618-4E33-B051-875F5D48D458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3D71F-2003-4B44-AF8C-F296F06DE1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92411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4532-6618-4E33-B051-875F5D48D458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3D71F-2003-4B44-AF8C-F296F06DE1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3299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4532-6618-4E33-B051-875F5D48D458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3D71F-2003-4B44-AF8C-F296F06DE1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8684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4532-6618-4E33-B051-875F5D48D458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3D71F-2003-4B44-AF8C-F296F06DE1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56552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4532-6618-4E33-B051-875F5D48D458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3D71F-2003-4B44-AF8C-F296F06DE1A1}" type="slidenum">
              <a:rPr lang="fr-FR" smtClean="0"/>
              <a:t>‹N°›</a:t>
            </a:fld>
            <a:endParaRPr lang="fr-FR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589555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4532-6618-4E33-B051-875F5D48D458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3D71F-2003-4B44-AF8C-F296F06DE1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6439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4532-6618-4E33-B051-875F5D48D458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3D71F-2003-4B44-AF8C-F296F06DE1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40641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4532-6618-4E33-B051-875F5D48D458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3D71F-2003-4B44-AF8C-F296F06DE1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9457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4532-6618-4E33-B051-875F5D48D458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3D71F-2003-4B44-AF8C-F296F06DE1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8381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C4532-6618-4E33-B051-875F5D48D458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3D71F-2003-4B44-AF8C-F296F06DE1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812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BC4532-6618-4E33-B051-875F5D48D458}" type="datetimeFigureOut">
              <a:rPr lang="fr-FR" smtClean="0"/>
              <a:t>21/11/2025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3D71F-2003-4B44-AF8C-F296F06DE1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30391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876424" y="369277"/>
            <a:ext cx="8791575" cy="940777"/>
          </a:xfrm>
        </p:spPr>
        <p:txBody>
          <a:bodyPr/>
          <a:lstStyle/>
          <a:p>
            <a:r>
              <a:rPr lang="fr-FR" dirty="0" smtClean="0">
                <a:solidFill>
                  <a:srgbClr val="00B050"/>
                </a:solidFill>
              </a:rPr>
              <a:t>                 W3.css </a:t>
            </a:r>
            <a:endParaRPr lang="fr-FR" dirty="0">
              <a:solidFill>
                <a:srgbClr val="00B050"/>
              </a:solidFill>
            </a:endParaRP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76424" y="1310054"/>
            <a:ext cx="8791575" cy="3947746"/>
          </a:xfrm>
        </p:spPr>
        <p:txBody>
          <a:bodyPr>
            <a:normAutofit/>
          </a:bodyPr>
          <a:lstStyle/>
          <a:p>
            <a:r>
              <a:rPr lang="fr-FR" dirty="0" smtClean="0"/>
              <a:t>                                                  </a:t>
            </a:r>
            <a:r>
              <a:rPr lang="fr-FR" u="sng" dirty="0" smtClean="0"/>
              <a:t>Groupe 4:</a:t>
            </a:r>
          </a:p>
          <a:p>
            <a:r>
              <a:rPr lang="fr-FR" dirty="0" smtClean="0"/>
              <a:t>-</a:t>
            </a:r>
            <a:r>
              <a:rPr lang="fr-FR" dirty="0" err="1" smtClean="0"/>
              <a:t>KiAdy</a:t>
            </a:r>
            <a:r>
              <a:rPr lang="fr-FR" dirty="0" smtClean="0"/>
              <a:t> </a:t>
            </a:r>
            <a:r>
              <a:rPr lang="fr-FR" dirty="0" err="1" smtClean="0"/>
              <a:t>Nirina</a:t>
            </a:r>
            <a:r>
              <a:rPr lang="fr-FR" dirty="0" smtClean="0"/>
              <a:t>                              -Leo </a:t>
            </a:r>
            <a:r>
              <a:rPr lang="fr-FR" dirty="0" err="1" smtClean="0"/>
              <a:t>mitia</a:t>
            </a:r>
            <a:r>
              <a:rPr lang="fr-FR" dirty="0" smtClean="0"/>
              <a:t>                </a:t>
            </a:r>
            <a:r>
              <a:rPr lang="fr-FR" dirty="0"/>
              <a:t> </a:t>
            </a:r>
            <a:r>
              <a:rPr lang="fr-FR" dirty="0" smtClean="0"/>
              <a:t>       -</a:t>
            </a:r>
            <a:r>
              <a:rPr lang="fr-FR" dirty="0" err="1" smtClean="0"/>
              <a:t>Fifaliana</a:t>
            </a:r>
            <a:r>
              <a:rPr lang="fr-FR" dirty="0" smtClean="0"/>
              <a:t> </a:t>
            </a:r>
            <a:r>
              <a:rPr lang="fr-FR" dirty="0" err="1" smtClean="0"/>
              <a:t>juvenal</a:t>
            </a:r>
            <a:r>
              <a:rPr lang="fr-FR" dirty="0" smtClean="0"/>
              <a:t> </a:t>
            </a:r>
          </a:p>
          <a:p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347/la/25-26</a:t>
            </a:r>
            <a:r>
              <a:rPr lang="fr-FR" dirty="0"/>
              <a:t>. </a:t>
            </a:r>
            <a:r>
              <a:rPr lang="fr-FR" dirty="0" smtClean="0"/>
              <a:t>                         297/la/25-26.                        293/la/25-26.</a:t>
            </a:r>
          </a:p>
          <a:p>
            <a:endParaRPr lang="fr-FR" dirty="0" smtClean="0"/>
          </a:p>
          <a:p>
            <a:endParaRPr lang="fr-FR" dirty="0" smtClean="0"/>
          </a:p>
          <a:p>
            <a:endParaRPr lang="fr-FR" dirty="0"/>
          </a:p>
          <a:p>
            <a:endParaRPr lang="fr-FR" dirty="0" smtClean="0"/>
          </a:p>
          <a:p>
            <a:endParaRPr lang="fr-FR" dirty="0" smtClean="0"/>
          </a:p>
          <a:p>
            <a:endParaRPr lang="fr-FR" dirty="0" smtClean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2632" y="230065"/>
            <a:ext cx="609600" cy="609600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968" y="334516"/>
            <a:ext cx="850201" cy="505149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424" y="3033347"/>
            <a:ext cx="2225919" cy="2743199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9" y="3033347"/>
            <a:ext cx="2286000" cy="2743200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5806" y="3033347"/>
            <a:ext cx="227281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697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5078249" cy="1069730"/>
          </a:xfrm>
        </p:spPr>
        <p:txBody>
          <a:bodyPr/>
          <a:lstStyle/>
          <a:p>
            <a:r>
              <a:rPr lang="fr-FR" u="sng" dirty="0">
                <a:solidFill>
                  <a:srgbClr val="00B050"/>
                </a:solidFill>
              </a:rPr>
              <a:t>Introduction a w3.css</a:t>
            </a:r>
            <a:r>
              <a:rPr lang="fr-FR" dirty="0">
                <a:solidFill>
                  <a:srgbClr val="00B050"/>
                </a:solidFill>
              </a:rPr>
              <a:t>:</a:t>
            </a:r>
            <a:endParaRPr lang="fr-FR" dirty="0"/>
          </a:p>
        </p:txBody>
      </p:sp>
      <p:pic>
        <p:nvPicPr>
          <p:cNvPr id="5" name="Espace réservé du contenu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5485" y="738684"/>
            <a:ext cx="4971928" cy="4905970"/>
          </a:xfrm>
        </p:spPr>
      </p:pic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146705" y="1978269"/>
            <a:ext cx="5078249" cy="3812931"/>
          </a:xfrm>
        </p:spPr>
        <p:txBody>
          <a:bodyPr/>
          <a:lstStyle/>
          <a:p>
            <a:r>
              <a:rPr lang="fr-FR" sz="2000" dirty="0">
                <a:solidFill>
                  <a:srgbClr val="00B050"/>
                </a:solidFill>
              </a:rPr>
              <a:t>Qu’est-ce que w3.css ?</a:t>
            </a:r>
          </a:p>
          <a:p>
            <a:r>
              <a:rPr lang="fr-FR" sz="2000" dirty="0">
                <a:solidFill>
                  <a:schemeClr val="bg2">
                    <a:lumMod val="25000"/>
                  </a:schemeClr>
                </a:solidFill>
              </a:rPr>
              <a:t>W3.CSS est un Framework CSS léger, gratuit développé par </a:t>
            </a:r>
            <a:r>
              <a:rPr lang="fr-FR" sz="2000" dirty="0">
                <a:solidFill>
                  <a:srgbClr val="00B050"/>
                </a:solidFill>
              </a:rPr>
              <a:t>w3shools</a:t>
            </a:r>
            <a:r>
              <a:rPr lang="fr-FR" sz="2000" dirty="0">
                <a:solidFill>
                  <a:schemeClr val="bg2">
                    <a:lumMod val="25000"/>
                  </a:schemeClr>
                </a:solidFill>
              </a:rPr>
              <a:t>.   Ce Framework moderne  permet de créer des sites web réactifs plus rapidement et plus facilement . </a:t>
            </a:r>
          </a:p>
          <a:p>
            <a:endParaRPr lang="fr-FR" sz="2000" dirty="0"/>
          </a:p>
          <a:p>
            <a:endParaRPr lang="fr-FR" dirty="0"/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968" y="334516"/>
            <a:ext cx="850201" cy="505149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2632" y="230065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442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123093"/>
            <a:ext cx="9905998" cy="1248508"/>
          </a:xfrm>
        </p:spPr>
        <p:txBody>
          <a:bodyPr/>
          <a:lstStyle/>
          <a:p>
            <a:r>
              <a:rPr lang="fr-FR" dirty="0" smtClean="0">
                <a:solidFill>
                  <a:srgbClr val="00B050"/>
                </a:solidFill>
              </a:rPr>
              <a:t>                </a:t>
            </a:r>
            <a:r>
              <a:rPr lang="fr-FR" u="sng" dirty="0" smtClean="0">
                <a:solidFill>
                  <a:srgbClr val="00B050"/>
                </a:solidFill>
              </a:rPr>
              <a:t>Installation </a:t>
            </a:r>
            <a:r>
              <a:rPr lang="fr-FR" u="sng" dirty="0">
                <a:solidFill>
                  <a:srgbClr val="00B050"/>
                </a:solidFill>
              </a:rPr>
              <a:t>et utilisation :</a:t>
            </a:r>
            <a:endParaRPr lang="fr-FR" dirty="0">
              <a:solidFill>
                <a:srgbClr val="00B050"/>
              </a:solidFill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216023" y="960120"/>
            <a:ext cx="4878389" cy="5590149"/>
          </a:xfrm>
        </p:spPr>
        <p:txBody>
          <a:bodyPr>
            <a:normAutofit lnSpcReduction="10000"/>
          </a:bodyPr>
          <a:lstStyle/>
          <a:p>
            <a:r>
              <a:rPr lang="fr-FR" u="sng" dirty="0" smtClean="0">
                <a:solidFill>
                  <a:schemeClr val="bg2">
                    <a:lumMod val="25000"/>
                  </a:schemeClr>
                </a:solidFill>
              </a:rPr>
              <a:t>ISTALLATION :</a:t>
            </a:r>
            <a:endParaRPr lang="fr-FR" u="sng" dirty="0">
              <a:solidFill>
                <a:schemeClr val="bg2">
                  <a:lumMod val="25000"/>
                </a:schemeClr>
              </a:solidFill>
            </a:endParaRPr>
          </a:p>
          <a:p>
            <a:pPr marL="0" indent="0">
              <a:buNone/>
            </a:pPr>
            <a:r>
              <a:rPr lang="fr-FR" sz="1600" dirty="0" smtClean="0">
                <a:solidFill>
                  <a:schemeClr val="bg2">
                    <a:lumMod val="25000"/>
                  </a:schemeClr>
                </a:solidFill>
              </a:rPr>
              <a:t>Pour l’installation, vous pouvez le faire sur W3Schools de deux manières:</a:t>
            </a:r>
          </a:p>
          <a:p>
            <a:r>
              <a:rPr lang="fr-FR" sz="1600" dirty="0" smtClean="0">
                <a:solidFill>
                  <a:schemeClr val="bg2">
                    <a:lumMod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Rounded MT Bold" panose="020F0704030504030204" pitchFamily="34" charset="0"/>
              </a:rPr>
              <a:t>A/ Via un CDN (Content Delivery Network)</a:t>
            </a:r>
            <a:r>
              <a:rPr lang="fr-FR" sz="1600" dirty="0" smtClean="0">
                <a:solidFill>
                  <a:schemeClr val="bg2">
                    <a:lumMod val="25000"/>
                  </a:schemeClr>
                </a:solidFill>
              </a:rPr>
              <a:t>:</a:t>
            </a:r>
            <a:endParaRPr lang="fr-FR" sz="1600" dirty="0">
              <a:solidFill>
                <a:schemeClr val="bg2">
                  <a:lumMod val="25000"/>
                </a:schemeClr>
              </a:solidFill>
            </a:endParaRPr>
          </a:p>
          <a:p>
            <a:pPr marL="0" indent="0">
              <a:buNone/>
            </a:pPr>
            <a:r>
              <a:rPr lang="fr-FR" sz="1600" dirty="0" smtClean="0">
                <a:solidFill>
                  <a:schemeClr val="bg2">
                    <a:lumMod val="25000"/>
                  </a:schemeClr>
                </a:solidFill>
              </a:rPr>
              <a:t>C’est la méthode la plus rapide car il faut juste entrer ce lien dans le &lt; </a:t>
            </a:r>
            <a:r>
              <a:rPr lang="fr-FR" sz="1600" dirty="0" err="1" smtClean="0">
                <a:solidFill>
                  <a:schemeClr val="bg2">
                    <a:lumMod val="25000"/>
                  </a:schemeClr>
                </a:solidFill>
              </a:rPr>
              <a:t>head</a:t>
            </a:r>
            <a:r>
              <a:rPr lang="fr-FR" sz="1600" dirty="0" smtClean="0">
                <a:solidFill>
                  <a:schemeClr val="bg2">
                    <a:lumMod val="25000"/>
                  </a:schemeClr>
                </a:solidFill>
              </a:rPr>
              <a:t> &gt; de votre fichier HTML en utilisant la balise orpheline </a:t>
            </a:r>
            <a:r>
              <a:rPr lang="fr-FR" sz="16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sz="1600" dirty="0" smtClean="0">
                <a:solidFill>
                  <a:schemeClr val="bg2">
                    <a:lumMod val="25000"/>
                  </a:schemeClr>
                </a:solidFill>
              </a:rPr>
              <a:t>&lt; </a:t>
            </a:r>
            <a:r>
              <a:rPr lang="fr-FR" sz="1600" dirty="0" err="1" smtClean="0">
                <a:solidFill>
                  <a:schemeClr val="bg2">
                    <a:lumMod val="25000"/>
                  </a:schemeClr>
                </a:solidFill>
              </a:rPr>
              <a:t>link</a:t>
            </a:r>
            <a:r>
              <a:rPr lang="fr-FR" sz="1600" dirty="0" smtClean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sz="1600" dirty="0">
                <a:solidFill>
                  <a:schemeClr val="bg2">
                    <a:lumMod val="25000"/>
                  </a:schemeClr>
                </a:solidFill>
              </a:rPr>
              <a:t>&gt;</a:t>
            </a:r>
            <a:r>
              <a:rPr lang="fr-FR" sz="1600" dirty="0" smtClean="0">
                <a:solidFill>
                  <a:schemeClr val="bg2">
                    <a:lumMod val="25000"/>
                  </a:schemeClr>
                </a:solidFill>
              </a:rPr>
              <a:t> :</a:t>
            </a:r>
          </a:p>
          <a:p>
            <a:pPr marL="0" indent="0">
              <a:buNone/>
            </a:pPr>
            <a:r>
              <a:rPr lang="fr-FR" sz="1600" dirty="0" smtClean="0"/>
              <a:t> «</a:t>
            </a:r>
            <a:r>
              <a:rPr lang="fr-FR" sz="1600" u="sng" dirty="0" smtClean="0">
                <a:solidFill>
                  <a:srgbClr val="00B050"/>
                </a:solidFill>
              </a:rPr>
              <a:t> https : //www.w3schools.com/w3css/4/w3.css</a:t>
            </a:r>
            <a:r>
              <a:rPr lang="fr-FR" sz="1600" dirty="0" smtClean="0"/>
              <a:t>  »</a:t>
            </a:r>
          </a:p>
          <a:p>
            <a:pPr marL="0" indent="0">
              <a:buNone/>
            </a:pPr>
            <a:r>
              <a:rPr lang="fr-FR" sz="40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 </a:t>
            </a:r>
            <a:r>
              <a:rPr lang="fr-FR" sz="1600" dirty="0" smtClean="0">
                <a:solidFill>
                  <a:schemeClr val="bg2">
                    <a:lumMod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B/ </a:t>
            </a:r>
            <a:r>
              <a:rPr lang="fr-FR" dirty="0" smtClean="0">
                <a:solidFill>
                  <a:schemeClr val="bg2">
                    <a:lumMod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Installation local :</a:t>
            </a:r>
          </a:p>
          <a:p>
            <a:pPr marL="0" indent="0">
              <a:buNone/>
            </a:pPr>
            <a:r>
              <a:rPr lang="fr-FR" sz="1600" dirty="0" smtClean="0">
                <a:solidFill>
                  <a:schemeClr val="bg2">
                    <a:lumMod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1600" dirty="0" smtClean="0">
                <a:solidFill>
                  <a:schemeClr val="bg2">
                    <a:lumMod val="25000"/>
                  </a:schemeClr>
                </a:solidFill>
              </a:rPr>
              <a:t>1.Téléchargez le fichier </a:t>
            </a:r>
            <a:r>
              <a:rPr lang="fr-FR" sz="1600" dirty="0" smtClean="0">
                <a:solidFill>
                  <a:srgbClr val="00B050"/>
                </a:solidFill>
              </a:rPr>
              <a:t>w3.css</a:t>
            </a:r>
            <a:r>
              <a:rPr lang="fr-FR" sz="1600" dirty="0" smtClean="0"/>
              <a:t> </a:t>
            </a:r>
            <a:r>
              <a:rPr lang="fr-FR" sz="1600" dirty="0" smtClean="0">
                <a:solidFill>
                  <a:schemeClr val="bg2">
                    <a:lumMod val="25000"/>
                  </a:schemeClr>
                </a:solidFill>
              </a:rPr>
              <a:t>depuis</a:t>
            </a:r>
            <a:r>
              <a:rPr lang="fr-FR" sz="1600" dirty="0" smtClean="0"/>
              <a:t> </a:t>
            </a:r>
            <a:r>
              <a:rPr lang="fr-FR" sz="1600" dirty="0" smtClean="0">
                <a:solidFill>
                  <a:srgbClr val="00B050"/>
                </a:solidFill>
              </a:rPr>
              <a:t>w3schools</a:t>
            </a:r>
            <a:r>
              <a:rPr lang="fr-FR" sz="1600" dirty="0" smtClean="0"/>
              <a:t>.</a:t>
            </a:r>
          </a:p>
          <a:p>
            <a:pPr marL="0" indent="0">
              <a:buNone/>
            </a:pPr>
            <a:r>
              <a:rPr lang="fr-FR" sz="1600" dirty="0" smtClean="0">
                <a:solidFill>
                  <a:schemeClr val="bg2">
                    <a:lumMod val="25000"/>
                  </a:schemeClr>
                </a:solidFill>
              </a:rPr>
              <a:t> 2.Placez le fichier téléchargé de un répertoire de votre site web.</a:t>
            </a:r>
          </a:p>
          <a:p>
            <a:pPr marL="0" indent="0">
              <a:buNone/>
            </a:pPr>
            <a:r>
              <a:rPr lang="fr-FR" sz="1600" dirty="0" smtClean="0">
                <a:solidFill>
                  <a:schemeClr val="bg2">
                    <a:lumMod val="25000"/>
                  </a:schemeClr>
                </a:solidFill>
              </a:rPr>
              <a:t> 3.Liez le fichier dans le </a:t>
            </a:r>
            <a:r>
              <a:rPr lang="fr-FR" sz="1600" dirty="0">
                <a:solidFill>
                  <a:schemeClr val="bg2">
                    <a:lumMod val="25000"/>
                  </a:schemeClr>
                </a:solidFill>
              </a:rPr>
              <a:t>&lt; </a:t>
            </a:r>
            <a:r>
              <a:rPr lang="fr-FR" sz="1600" dirty="0" err="1">
                <a:solidFill>
                  <a:schemeClr val="bg2">
                    <a:lumMod val="25000"/>
                  </a:schemeClr>
                </a:solidFill>
              </a:rPr>
              <a:t>head</a:t>
            </a:r>
            <a:r>
              <a:rPr lang="fr-FR" sz="1600" dirty="0">
                <a:solidFill>
                  <a:schemeClr val="bg2">
                    <a:lumMod val="25000"/>
                  </a:schemeClr>
                </a:solidFill>
              </a:rPr>
              <a:t> &gt; </a:t>
            </a:r>
            <a:r>
              <a:rPr lang="fr-FR" sz="1600" dirty="0" smtClean="0">
                <a:solidFill>
                  <a:schemeClr val="bg2">
                    <a:lumMod val="25000"/>
                  </a:schemeClr>
                </a:solidFill>
              </a:rPr>
              <a:t>de votre fichiez HTML</a:t>
            </a:r>
          </a:p>
          <a:p>
            <a:pPr marL="0" indent="0">
              <a:buNone/>
            </a:pPr>
            <a:r>
              <a:rPr lang="fr-FR" sz="1600" dirty="0" smtClean="0">
                <a:solidFill>
                  <a:schemeClr val="bg2">
                    <a:lumMod val="25000"/>
                  </a:schemeClr>
                </a:solidFill>
              </a:rPr>
              <a:t>en utilisant la balise </a:t>
            </a:r>
            <a:r>
              <a:rPr lang="fr-FR" sz="1600" dirty="0">
                <a:solidFill>
                  <a:schemeClr val="bg2">
                    <a:lumMod val="25000"/>
                  </a:schemeClr>
                </a:solidFill>
              </a:rPr>
              <a:t>&lt; </a:t>
            </a:r>
            <a:r>
              <a:rPr lang="fr-FR" sz="1600" dirty="0" err="1">
                <a:solidFill>
                  <a:schemeClr val="bg2">
                    <a:lumMod val="25000"/>
                  </a:schemeClr>
                </a:solidFill>
              </a:rPr>
              <a:t>link</a:t>
            </a:r>
            <a:r>
              <a:rPr lang="fr-FR" sz="1600" dirty="0">
                <a:solidFill>
                  <a:schemeClr val="bg2">
                    <a:lumMod val="25000"/>
                  </a:schemeClr>
                </a:solidFill>
              </a:rPr>
              <a:t> &gt; </a:t>
            </a:r>
            <a:r>
              <a:rPr lang="fr-FR" sz="1600" dirty="0" smtClean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fr-FR" sz="1600" dirty="0" smtClean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903720" y="1072663"/>
            <a:ext cx="4882896" cy="5477606"/>
          </a:xfrm>
        </p:spPr>
        <p:txBody>
          <a:bodyPr>
            <a:normAutofit lnSpcReduction="10000"/>
          </a:bodyPr>
          <a:lstStyle/>
          <a:p>
            <a:r>
              <a:rPr lang="fr-FR" u="sng" dirty="0" smtClean="0">
                <a:solidFill>
                  <a:schemeClr val="bg2">
                    <a:lumMod val="25000"/>
                  </a:schemeClr>
                </a:solidFill>
              </a:rPr>
              <a:t>UTILISATION </a:t>
            </a:r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:</a:t>
            </a:r>
            <a:endParaRPr lang="fr-FR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fr-FR" sz="1700" dirty="0">
                <a:solidFill>
                  <a:schemeClr val="bg2">
                    <a:lumMod val="25000"/>
                  </a:schemeClr>
                </a:solidFill>
              </a:rPr>
              <a:t>C’est un </a:t>
            </a:r>
            <a:r>
              <a:rPr lang="fr-FR" sz="1700" dirty="0" err="1">
                <a:solidFill>
                  <a:schemeClr val="bg2">
                    <a:lumMod val="25000"/>
                  </a:schemeClr>
                </a:solidFill>
              </a:rPr>
              <a:t>framework</a:t>
            </a:r>
            <a:r>
              <a:rPr lang="fr-FR" sz="1700" dirty="0">
                <a:solidFill>
                  <a:schemeClr val="bg2">
                    <a:lumMod val="25000"/>
                  </a:schemeClr>
                </a:solidFill>
              </a:rPr>
              <a:t> « CSS-</a:t>
            </a:r>
            <a:r>
              <a:rPr lang="fr-FR" sz="1700" dirty="0" err="1">
                <a:solidFill>
                  <a:schemeClr val="bg2">
                    <a:lumMod val="25000"/>
                  </a:schemeClr>
                </a:solidFill>
              </a:rPr>
              <a:t>only</a:t>
            </a:r>
            <a:r>
              <a:rPr lang="fr-FR" sz="1700" dirty="0">
                <a:solidFill>
                  <a:schemeClr val="bg2">
                    <a:lumMod val="25000"/>
                  </a:schemeClr>
                </a:solidFill>
              </a:rPr>
              <a:t> » c’est-à-dire qu’il ne nécessite pas de JavaScript</a:t>
            </a:r>
            <a:r>
              <a:rPr lang="fr-FR" sz="1700" dirty="0" smtClean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  <a:p>
            <a:r>
              <a:rPr lang="fr-FR" sz="1700" dirty="0" smtClean="0">
                <a:solidFill>
                  <a:schemeClr val="bg2">
                    <a:lumMod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Rounded MT Bold" panose="020F0704030504030204" pitchFamily="34" charset="0"/>
              </a:rPr>
              <a:t>Principe de base </a:t>
            </a:r>
            <a:r>
              <a:rPr lang="fr-FR" sz="1700" dirty="0" smtClean="0">
                <a:solidFill>
                  <a:schemeClr val="bg2">
                    <a:lumMod val="25000"/>
                  </a:schemeClr>
                </a:solidFill>
              </a:rPr>
              <a:t>:</a:t>
            </a:r>
          </a:p>
          <a:p>
            <a:pPr marL="0" indent="0">
              <a:buNone/>
            </a:pPr>
            <a:r>
              <a:rPr lang="fr-FR" sz="17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sz="1700" dirty="0" smtClean="0">
                <a:solidFill>
                  <a:schemeClr val="bg2">
                    <a:lumMod val="25000"/>
                  </a:schemeClr>
                </a:solidFill>
              </a:rPr>
              <a:t>Toutes les classes W3.CSS commencent par le préfixe </a:t>
            </a:r>
            <a:r>
              <a:rPr lang="fr-FR" sz="1700" dirty="0" smtClean="0">
                <a:solidFill>
                  <a:srgbClr val="00B050"/>
                </a:solidFill>
              </a:rPr>
              <a:t>w3-</a:t>
            </a:r>
            <a:r>
              <a:rPr lang="fr-FR" sz="1700" dirty="0" smtClean="0"/>
              <a:t>.</a:t>
            </a:r>
          </a:p>
          <a:p>
            <a:pPr marL="0" indent="0">
              <a:buNone/>
            </a:pPr>
            <a:r>
              <a:rPr lang="fr-FR" sz="4300" dirty="0" smtClean="0">
                <a:solidFill>
                  <a:schemeClr val="bg2">
                    <a:lumMod val="25000"/>
                  </a:schemeClr>
                </a:solidFill>
              </a:rPr>
              <a:t>.</a:t>
            </a:r>
            <a:r>
              <a:rPr lang="fr-FR" sz="1700" dirty="0">
                <a:solidFill>
                  <a:schemeClr val="bg2">
                    <a:lumMod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Rounded MT Bold" panose="020F0704030504030204" pitchFamily="34" charset="0"/>
              </a:rPr>
              <a:t> </a:t>
            </a:r>
            <a:r>
              <a:rPr lang="fr-FR" sz="1700" u="sng" dirty="0" smtClean="0">
                <a:solidFill>
                  <a:schemeClr val="bg2">
                    <a:lumMod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Rounded MT Bold" panose="020F0704030504030204" pitchFamily="34" charset="0"/>
              </a:rPr>
              <a:t>Exemple </a:t>
            </a:r>
            <a:r>
              <a:rPr lang="fr-FR" sz="1700" u="sng" dirty="0" smtClean="0">
                <a:solidFill>
                  <a:schemeClr val="bg2">
                    <a:lumMod val="25000"/>
                  </a:schemeClr>
                </a:solidFill>
              </a:rPr>
              <a:t>:</a:t>
            </a:r>
          </a:p>
          <a:p>
            <a:pPr marL="0" indent="0">
              <a:buNone/>
            </a:pPr>
            <a:r>
              <a:rPr lang="fr-FR" sz="1700" dirty="0" smtClean="0">
                <a:solidFill>
                  <a:schemeClr val="bg2">
                    <a:lumMod val="25000"/>
                  </a:schemeClr>
                </a:solidFill>
              </a:rPr>
              <a:t>Pour un conteneur avec un couleur:</a:t>
            </a:r>
          </a:p>
          <a:p>
            <a:pPr marL="0" indent="0">
              <a:buNone/>
            </a:pPr>
            <a:r>
              <a:rPr lang="fr-FR" sz="1700" dirty="0"/>
              <a:t> &lt;</a:t>
            </a:r>
            <a:r>
              <a:rPr lang="fr-FR" sz="17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fr-FR" sz="1700" dirty="0" smtClean="0">
                <a:solidFill>
                  <a:schemeClr val="bg2">
                    <a:lumMod val="50000"/>
                  </a:schemeClr>
                </a:solidFill>
              </a:rPr>
              <a:t>div </a:t>
            </a:r>
            <a:r>
              <a:rPr lang="fr-FR" sz="1700" dirty="0" smtClean="0"/>
              <a:t>class=’</a:t>
            </a:r>
            <a:r>
              <a:rPr lang="fr-FR" sz="1700" dirty="0" smtClean="0">
                <a:solidFill>
                  <a:srgbClr val="00B050"/>
                </a:solidFill>
              </a:rPr>
              <a:t>’w3-container w3-blue</a:t>
            </a:r>
            <a:r>
              <a:rPr lang="fr-FR" sz="1700" dirty="0" smtClean="0"/>
              <a:t>’’</a:t>
            </a:r>
            <a:r>
              <a:rPr lang="fr-FR" sz="1700" dirty="0"/>
              <a:t> &gt; </a:t>
            </a:r>
            <a:r>
              <a:rPr lang="fr-FR" sz="1700" dirty="0" smtClean="0"/>
              <a:t>… </a:t>
            </a:r>
            <a:r>
              <a:rPr lang="fr-FR" sz="1700" dirty="0"/>
              <a:t>&lt;</a:t>
            </a:r>
            <a:r>
              <a:rPr lang="fr-FR" sz="17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fr-FR" sz="1700" dirty="0" smtClean="0">
                <a:solidFill>
                  <a:schemeClr val="bg2">
                    <a:lumMod val="50000"/>
                  </a:schemeClr>
                </a:solidFill>
              </a:rPr>
              <a:t>div</a:t>
            </a:r>
            <a:r>
              <a:rPr lang="fr-FR" sz="17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fr-FR" sz="1700" dirty="0"/>
              <a:t>&gt; </a:t>
            </a:r>
            <a:r>
              <a:rPr lang="fr-FR" sz="1700" dirty="0" smtClean="0"/>
              <a:t>.</a:t>
            </a:r>
            <a:endParaRPr lang="fr-FR" sz="1700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2632" y="230065"/>
            <a:ext cx="609600" cy="609600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968" y="334516"/>
            <a:ext cx="850201" cy="505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268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>
                <a:solidFill>
                  <a:srgbClr val="00B050"/>
                </a:solidFill>
              </a:rPr>
              <a:t>             </a:t>
            </a:r>
            <a:r>
              <a:rPr lang="fr-FR" u="sng" dirty="0" smtClean="0">
                <a:solidFill>
                  <a:srgbClr val="00B050"/>
                </a:solidFill>
              </a:rPr>
              <a:t>Le </a:t>
            </a:r>
            <a:r>
              <a:rPr lang="fr-FR" u="sng" dirty="0">
                <a:solidFill>
                  <a:srgbClr val="00B050"/>
                </a:solidFill>
              </a:rPr>
              <a:t>responsive design intégré: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801368"/>
            <a:ext cx="9905999" cy="4279391"/>
          </a:xfrm>
        </p:spPr>
        <p:txBody>
          <a:bodyPr/>
          <a:lstStyle/>
          <a:p>
            <a:pPr marL="0" indent="0">
              <a:buNone/>
            </a:pPr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      Le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framework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W3.CSS intègre le responsive design par </a:t>
            </a:r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défaut , selon 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une approche  « mobile-first </a:t>
            </a:r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» . C’est-à-dire 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qu’il s’adapte automatiquement aux différentes tailles d’écran </a:t>
            </a:r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(écran large , laptop , tablette , mobile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).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2632" y="230065"/>
            <a:ext cx="609600" cy="609600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968" y="334516"/>
            <a:ext cx="850201" cy="505149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4546" y="3279938"/>
            <a:ext cx="9627577" cy="328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868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            </a:t>
            </a:r>
            <a:r>
              <a:rPr lang="fr-FR" u="sng" dirty="0">
                <a:solidFill>
                  <a:srgbClr val="00B050"/>
                </a:solidFill>
              </a:rPr>
              <a:t>Stylisation : couleurs et </a:t>
            </a:r>
            <a:r>
              <a:rPr lang="fr-FR" u="sng" dirty="0" smtClean="0">
                <a:solidFill>
                  <a:srgbClr val="00B050"/>
                </a:solidFill>
              </a:rPr>
              <a:t>éléments        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216023" y="1728216"/>
            <a:ext cx="4878389" cy="4767074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fr-FR" sz="2900" dirty="0">
                <a:solidFill>
                  <a:schemeClr val="bg2">
                    <a:lumMod val="25000"/>
                  </a:schemeClr>
                </a:solidFill>
              </a:rPr>
              <a:t>W3.CSS permet une personnalisation facile et des couleurs et des éléments.</a:t>
            </a:r>
          </a:p>
          <a:p>
            <a:pPr marL="0" indent="0">
              <a:buNone/>
            </a:pPr>
            <a:r>
              <a:rPr lang="fr-FR" sz="5700" dirty="0">
                <a:solidFill>
                  <a:schemeClr val="bg2">
                    <a:lumMod val="25000"/>
                  </a:schemeClr>
                </a:solidFill>
              </a:rPr>
              <a:t>.</a:t>
            </a:r>
            <a:r>
              <a:rPr lang="fr-FR" sz="2900" dirty="0">
                <a:solidFill>
                  <a:schemeClr val="bg2">
                    <a:lumMod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Stylisation des couleurs </a:t>
            </a:r>
            <a:r>
              <a:rPr lang="fr-FR" sz="2900" dirty="0">
                <a:solidFill>
                  <a:schemeClr val="bg2">
                    <a:lumMod val="25000"/>
                  </a:schemeClr>
                </a:solidFill>
              </a:rPr>
              <a:t>:</a:t>
            </a:r>
          </a:p>
          <a:p>
            <a:pPr marL="0" indent="0">
              <a:buNone/>
            </a:pPr>
            <a:r>
              <a:rPr lang="fr-FR" sz="2900" dirty="0">
                <a:solidFill>
                  <a:schemeClr val="bg2">
                    <a:lumMod val="25000"/>
                  </a:schemeClr>
                </a:solidFill>
              </a:rPr>
              <a:t>La gestion des couleurs dans W3.CSS repose sur l’ajout de classes spécifiques au éléments HTML.</a:t>
            </a:r>
          </a:p>
          <a:p>
            <a:pPr marL="0" indent="0">
              <a:buNone/>
            </a:pPr>
            <a:r>
              <a:rPr lang="fr-FR" sz="2900" u="sng" dirty="0" smtClean="0">
                <a:solidFill>
                  <a:schemeClr val="bg2">
                    <a:lumMod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Exemples:</a:t>
            </a:r>
            <a:endParaRPr lang="fr-FR" sz="2900" u="sng" dirty="0">
              <a:solidFill>
                <a:schemeClr val="bg2">
                  <a:lumMod val="2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>
              <a:buNone/>
            </a:pPr>
            <a:r>
              <a:rPr lang="fr-FR" sz="2900" dirty="0" smtClean="0">
                <a:solidFill>
                  <a:schemeClr val="bg2">
                    <a:lumMod val="25000"/>
                  </a:schemeClr>
                </a:solidFill>
              </a:rPr>
              <a:t>Pour l’arrière-plan : </a:t>
            </a:r>
            <a:r>
              <a:rPr lang="fr-FR" sz="2900" dirty="0" smtClean="0"/>
              <a:t> </a:t>
            </a:r>
            <a:r>
              <a:rPr lang="fr-FR" sz="2900" dirty="0"/>
              <a:t>&lt;</a:t>
            </a:r>
            <a:r>
              <a:rPr lang="fr-FR" sz="2900" dirty="0">
                <a:solidFill>
                  <a:schemeClr val="bg2">
                    <a:lumMod val="50000"/>
                  </a:schemeClr>
                </a:solidFill>
              </a:rPr>
              <a:t> div </a:t>
            </a:r>
            <a:r>
              <a:rPr lang="fr-FR" sz="2900" dirty="0"/>
              <a:t>class=’</a:t>
            </a:r>
            <a:r>
              <a:rPr lang="fr-FR" sz="2900" dirty="0">
                <a:solidFill>
                  <a:srgbClr val="00B050"/>
                </a:solidFill>
              </a:rPr>
              <a:t>’w3-container w3-blue</a:t>
            </a:r>
            <a:r>
              <a:rPr lang="fr-FR" sz="2900" dirty="0"/>
              <a:t>’’ &gt; … &lt;</a:t>
            </a:r>
            <a:r>
              <a:rPr lang="fr-FR" sz="2900" dirty="0">
                <a:solidFill>
                  <a:schemeClr val="bg2">
                    <a:lumMod val="50000"/>
                  </a:schemeClr>
                </a:solidFill>
              </a:rPr>
              <a:t> div </a:t>
            </a:r>
            <a:r>
              <a:rPr lang="fr-FR" sz="2900" dirty="0"/>
              <a:t>&gt; .</a:t>
            </a:r>
          </a:p>
          <a:p>
            <a:pPr marL="0" indent="0">
              <a:buNone/>
            </a:pPr>
            <a:r>
              <a:rPr lang="fr-FR" sz="2900" dirty="0">
                <a:solidFill>
                  <a:schemeClr val="bg2">
                    <a:lumMod val="25000"/>
                  </a:schemeClr>
                </a:solidFill>
              </a:rPr>
              <a:t>Pour les textes</a:t>
            </a:r>
            <a:r>
              <a:rPr lang="fr-FR" sz="2900" dirty="0"/>
              <a:t> : &lt;</a:t>
            </a:r>
            <a:r>
              <a:rPr lang="fr-FR" sz="2900" dirty="0">
                <a:solidFill>
                  <a:schemeClr val="bg2">
                    <a:lumMod val="50000"/>
                  </a:schemeClr>
                </a:solidFill>
              </a:rPr>
              <a:t> h2 </a:t>
            </a:r>
            <a:r>
              <a:rPr lang="fr-FR" sz="2900" dirty="0"/>
              <a:t>class=’</a:t>
            </a:r>
            <a:r>
              <a:rPr lang="fr-FR" sz="2900" dirty="0">
                <a:solidFill>
                  <a:srgbClr val="00B050"/>
                </a:solidFill>
              </a:rPr>
              <a:t>’w3-text-blue</a:t>
            </a:r>
            <a:r>
              <a:rPr lang="fr-FR" sz="2900" dirty="0"/>
              <a:t>’’ &gt; … &lt;</a:t>
            </a:r>
            <a:r>
              <a:rPr lang="fr-FR" sz="2900" dirty="0">
                <a:solidFill>
                  <a:schemeClr val="bg2">
                    <a:lumMod val="50000"/>
                  </a:schemeClr>
                </a:solidFill>
              </a:rPr>
              <a:t> h2 </a:t>
            </a:r>
            <a:r>
              <a:rPr lang="fr-FR" sz="2900" dirty="0"/>
              <a:t>&gt; .</a:t>
            </a:r>
          </a:p>
          <a:p>
            <a:pPr marL="0" indent="0">
              <a:buNone/>
            </a:pPr>
            <a:r>
              <a:rPr lang="fr-FR" sz="2900" dirty="0">
                <a:solidFill>
                  <a:schemeClr val="bg2">
                    <a:lumMod val="25000"/>
                  </a:schemeClr>
                </a:solidFill>
              </a:rPr>
              <a:t>Pour l’effet au survol </a:t>
            </a:r>
            <a:r>
              <a:rPr lang="fr-FR" sz="2900" dirty="0"/>
              <a:t>:</a:t>
            </a:r>
            <a:r>
              <a:rPr lang="fr-FR" sz="2900" dirty="0">
                <a:solidFill>
                  <a:srgbClr val="00B050"/>
                </a:solidFill>
              </a:rPr>
              <a:t> w3-hover-amber </a:t>
            </a:r>
            <a:r>
              <a:rPr lang="fr-FR" sz="2900" dirty="0"/>
              <a:t>.</a:t>
            </a:r>
          </a:p>
          <a:p>
            <a:endParaRPr lang="fr-FR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803136" y="1728216"/>
            <a:ext cx="4992624" cy="402336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endParaRPr lang="fr-FR" dirty="0" smtClean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sz="6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</a:t>
            </a:r>
            <a:r>
              <a:rPr lang="fr-FR" sz="2900" dirty="0" smtClean="0">
                <a:solidFill>
                  <a:schemeClr val="bg2">
                    <a:lumMod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Stylisation des éléments :</a:t>
            </a:r>
          </a:p>
          <a:p>
            <a:pPr marL="0" indent="0">
              <a:buNone/>
            </a:pPr>
            <a:r>
              <a:rPr lang="fr-FR" sz="2900" dirty="0" smtClean="0">
                <a:solidFill>
                  <a:schemeClr val="bg2">
                    <a:lumMod val="25000"/>
                  </a:schemeClr>
                </a:solidFill>
              </a:rPr>
              <a:t>W3.CSS fournit également des classes pour styliser divers éléments HTML et créer des mises en page réactives.</a:t>
            </a:r>
          </a:p>
          <a:p>
            <a:pPr marL="0" indent="0">
              <a:buNone/>
            </a:pPr>
            <a:r>
              <a:rPr lang="fr-FR" sz="2900" u="sng" dirty="0">
                <a:solidFill>
                  <a:schemeClr val="bg2">
                    <a:lumMod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Exemple</a:t>
            </a:r>
            <a:r>
              <a:rPr lang="fr-FR" sz="2900" u="sng" dirty="0" smtClean="0">
                <a:solidFill>
                  <a:schemeClr val="bg2">
                    <a:lumMod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</a:t>
            </a:r>
          </a:p>
          <a:p>
            <a:pPr marL="0" indent="0">
              <a:buNone/>
            </a:pPr>
            <a:r>
              <a:rPr lang="fr-FR" sz="2900" dirty="0" smtClean="0">
                <a:solidFill>
                  <a:schemeClr val="bg2">
                    <a:lumMod val="25000"/>
                  </a:schemeClr>
                </a:solidFill>
              </a:rPr>
              <a:t>Conteneurs ou container </a:t>
            </a:r>
            <a:r>
              <a:rPr lang="fr-FR" sz="2900" dirty="0" smtClean="0"/>
              <a:t>:</a:t>
            </a:r>
            <a:r>
              <a:rPr lang="fr-FR" sz="2900" dirty="0" smtClean="0">
                <a:solidFill>
                  <a:srgbClr val="00B050"/>
                </a:solidFill>
              </a:rPr>
              <a:t> w3-container </a:t>
            </a:r>
            <a:r>
              <a:rPr lang="fr-FR" sz="2900" dirty="0" smtClean="0"/>
              <a:t>.</a:t>
            </a:r>
          </a:p>
          <a:p>
            <a:pPr marL="0" indent="0">
              <a:buNone/>
            </a:pPr>
            <a:endParaRPr lang="fr-FR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2632" y="230065"/>
            <a:ext cx="609600" cy="609600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968" y="334516"/>
            <a:ext cx="850201" cy="505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88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146304"/>
            <a:ext cx="9905998" cy="1216152"/>
          </a:xfrm>
        </p:spPr>
        <p:txBody>
          <a:bodyPr/>
          <a:lstStyle/>
          <a:p>
            <a:r>
              <a:rPr lang="fr-FR" dirty="0" smtClean="0">
                <a:solidFill>
                  <a:srgbClr val="00B050"/>
                </a:solidFill>
              </a:rPr>
              <a:t>                 </a:t>
            </a:r>
            <a:r>
              <a:rPr lang="fr-FR" u="sng" dirty="0" smtClean="0">
                <a:solidFill>
                  <a:srgbClr val="00B050"/>
                </a:solidFill>
              </a:rPr>
              <a:t>composants et modèles :</a:t>
            </a:r>
            <a:endParaRPr lang="fr-FR" u="sng" dirty="0">
              <a:solidFill>
                <a:srgbClr val="00B050"/>
              </a:solidFill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41410" y="1051560"/>
            <a:ext cx="4878389" cy="5806440"/>
          </a:xfrm>
        </p:spPr>
        <p:txBody>
          <a:bodyPr>
            <a:normAutofit/>
          </a:bodyPr>
          <a:lstStyle/>
          <a:p>
            <a:r>
              <a:rPr lang="fr-FR" sz="2000" dirty="0" smtClean="0">
                <a:solidFill>
                  <a:schemeClr val="bg2">
                    <a:lumMod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Composants (Classes W3.CSS):</a:t>
            </a:r>
          </a:p>
          <a:p>
            <a:pPr marL="0" indent="0">
              <a:buNone/>
            </a:pPr>
            <a:r>
              <a:rPr lang="fr-FR" sz="2000" u="sng" dirty="0" smtClean="0">
                <a:solidFill>
                  <a:schemeClr val="bg2">
                    <a:lumMod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Exemples:</a:t>
            </a:r>
          </a:p>
          <a:p>
            <a:pPr marL="0" indent="0">
              <a:buNone/>
            </a:pPr>
            <a:r>
              <a:rPr lang="fr-FR" sz="2000" dirty="0" smtClean="0">
                <a:solidFill>
                  <a:schemeClr val="bg2">
                    <a:lumMod val="25000"/>
                  </a:schemeClr>
                </a:solidFill>
              </a:rPr>
              <a:t>Container : w3-container.</a:t>
            </a:r>
          </a:p>
          <a:p>
            <a:pPr marL="0" indent="0">
              <a:buNone/>
            </a:pPr>
            <a:r>
              <a:rPr lang="fr-FR" sz="2000" dirty="0" smtClean="0">
                <a:solidFill>
                  <a:schemeClr val="bg2">
                    <a:lumMod val="25000"/>
                  </a:schemeClr>
                </a:solidFill>
              </a:rPr>
              <a:t>Grilles : w3-col,w3-row.</a:t>
            </a:r>
          </a:p>
          <a:p>
            <a:pPr marL="0" indent="0">
              <a:buNone/>
            </a:pPr>
            <a:r>
              <a:rPr lang="fr-FR" sz="2000" dirty="0" smtClean="0">
                <a:solidFill>
                  <a:schemeClr val="bg2">
                    <a:lumMod val="25000"/>
                  </a:schemeClr>
                </a:solidFill>
              </a:rPr>
              <a:t>Couleur : w3-color.</a:t>
            </a:r>
            <a:endParaRPr lang="fr-FR" sz="2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051560"/>
            <a:ext cx="4875211" cy="5724144"/>
          </a:xfrm>
        </p:spPr>
        <p:txBody>
          <a:bodyPr>
            <a:normAutofit/>
          </a:bodyPr>
          <a:lstStyle/>
          <a:p>
            <a:r>
              <a:rPr lang="fr-FR" sz="2000" dirty="0" smtClean="0">
                <a:solidFill>
                  <a:schemeClr val="bg2">
                    <a:lumMod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Modèles (</a:t>
            </a:r>
            <a:r>
              <a:rPr lang="fr-FR" sz="2000" dirty="0" err="1">
                <a:solidFill>
                  <a:schemeClr val="bg2">
                    <a:lumMod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</a:t>
            </a:r>
            <a:r>
              <a:rPr lang="fr-FR" sz="2000" dirty="0" err="1" smtClean="0">
                <a:solidFill>
                  <a:schemeClr val="bg2">
                    <a:lumMod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emplates</a:t>
            </a:r>
            <a:r>
              <a:rPr lang="fr-FR" sz="2000" dirty="0" smtClean="0">
                <a:solidFill>
                  <a:schemeClr val="bg2">
                    <a:lumMod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 :</a:t>
            </a:r>
          </a:p>
          <a:p>
            <a:pPr marL="0" indent="0">
              <a:buNone/>
            </a:pPr>
            <a:r>
              <a:rPr lang="fr-FR" sz="2000" dirty="0" smtClean="0">
                <a:solidFill>
                  <a:schemeClr val="bg2">
                    <a:lumMod val="25000"/>
                  </a:schemeClr>
                </a:solidFill>
              </a:rPr>
              <a:t>W3.CSS fournit beaucoup de modèles prêt à l’emploi sur W3SCHOOLS.</a:t>
            </a:r>
          </a:p>
          <a:p>
            <a:pPr marL="0" indent="0">
              <a:buNone/>
            </a:pPr>
            <a:r>
              <a:rPr lang="fr-FR" sz="2000" dirty="0" smtClean="0">
                <a:solidFill>
                  <a:schemeClr val="bg2">
                    <a:lumMod val="25000"/>
                  </a:schemeClr>
                </a:solidFill>
              </a:rPr>
              <a:t>Ces modèles sont :</a:t>
            </a:r>
          </a:p>
          <a:p>
            <a:pPr marL="0" indent="0">
              <a:buNone/>
            </a:pPr>
            <a:r>
              <a:rPr lang="fr-FR" sz="2000" dirty="0" smtClean="0">
                <a:solidFill>
                  <a:schemeClr val="bg2">
                    <a:lumMod val="25000"/>
                  </a:schemeClr>
                </a:solidFill>
              </a:rPr>
              <a:t>-Réactifs.</a:t>
            </a:r>
          </a:p>
          <a:p>
            <a:pPr marL="0" indent="0">
              <a:buNone/>
            </a:pPr>
            <a:r>
              <a:rPr lang="fr-FR" sz="2000" dirty="0" smtClean="0">
                <a:solidFill>
                  <a:schemeClr val="bg2">
                    <a:lumMod val="25000"/>
                  </a:schemeClr>
                </a:solidFill>
              </a:rPr>
              <a:t>-Faciles à utiliser.</a:t>
            </a:r>
          </a:p>
          <a:p>
            <a:pPr marL="0" indent="0">
              <a:buNone/>
            </a:pPr>
            <a:r>
              <a:rPr lang="fr-FR" sz="2000" dirty="0" smtClean="0">
                <a:solidFill>
                  <a:schemeClr val="bg2">
                    <a:lumMod val="25000"/>
                  </a:schemeClr>
                </a:solidFill>
              </a:rPr>
              <a:t>-Personnalisables.</a:t>
            </a:r>
          </a:p>
          <a:p>
            <a:pPr marL="0" indent="0">
              <a:buNone/>
            </a:pPr>
            <a:r>
              <a:rPr lang="fr-FR" u="sng" dirty="0" smtClean="0">
                <a:solidFill>
                  <a:schemeClr val="bg2">
                    <a:lumMod val="25000"/>
                  </a:schemeClr>
                </a:solidFill>
              </a:rPr>
              <a:t>Exemple:</a:t>
            </a:r>
            <a:endParaRPr lang="fr-FR" u="sng" dirty="0">
              <a:solidFill>
                <a:schemeClr val="bg2">
                  <a:lumMod val="25000"/>
                </a:schemeClr>
              </a:solidFill>
            </a:endParaRPr>
          </a:p>
          <a:p>
            <a:pPr marL="0" indent="0">
              <a:buNone/>
            </a:pPr>
            <a:endParaRPr lang="fr-FR" dirty="0" smtClean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 smtClean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 smtClean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 smtClean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 smtClean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 smtClean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 smtClean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 smtClean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 smtClean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 smtClean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2632" y="230065"/>
            <a:ext cx="609600" cy="609600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968" y="334516"/>
            <a:ext cx="850201" cy="505149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7507" y="2549769"/>
            <a:ext cx="3165231" cy="407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236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                 </a:t>
            </a:r>
            <a:r>
              <a:rPr lang="fr-FR" u="sng" dirty="0" smtClean="0">
                <a:solidFill>
                  <a:srgbClr val="00B050"/>
                </a:solidFill>
              </a:rPr>
              <a:t>W3.CSS vs </a:t>
            </a:r>
            <a:r>
              <a:rPr lang="fr-FR" u="sng" dirty="0" err="1" smtClean="0">
                <a:solidFill>
                  <a:srgbClr val="00B050"/>
                </a:solidFill>
              </a:rPr>
              <a:t>css</a:t>
            </a:r>
            <a:r>
              <a:rPr lang="fr-FR" u="sng" dirty="0" smtClean="0">
                <a:solidFill>
                  <a:srgbClr val="00B050"/>
                </a:solidFill>
              </a:rPr>
              <a:t> standard :</a:t>
            </a:r>
            <a:endParaRPr lang="fr-FR" u="sng" dirty="0">
              <a:solidFill>
                <a:srgbClr val="00B050"/>
              </a:solidFill>
            </a:endParaRP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                 </a:t>
            </a:r>
            <a:r>
              <a:rPr lang="fr-FR" dirty="0" smtClean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W3.css :</a:t>
            </a:r>
            <a:endParaRPr lang="fr-FR" dirty="0">
              <a:solidFill>
                <a:srgbClr val="00B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C’est un ensemble de classes prêtes à l’emploi que vous ajoutez directement à votre code HTML pour obtenir des styles spécifiques. C’est un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b="1" dirty="0" smtClean="0">
                <a:solidFill>
                  <a:schemeClr val="bg2">
                    <a:lumMod val="25000"/>
                  </a:schemeClr>
                </a:solidFill>
              </a:rPr>
              <a:t>Framework</a:t>
            </a:r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.</a:t>
            </a:r>
            <a:endParaRPr lang="fr-FR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976870" y="2249485"/>
            <a:ext cx="4070539" cy="823912"/>
          </a:xfrm>
        </p:spPr>
        <p:txBody>
          <a:bodyPr/>
          <a:lstStyle/>
          <a:p>
            <a:r>
              <a:rPr lang="fr-FR" dirty="0" smtClean="0"/>
              <a:t>        </a:t>
            </a:r>
            <a:r>
              <a:rPr lang="fr-FR" dirty="0" err="1" smtClean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css</a:t>
            </a:r>
            <a:r>
              <a:rPr lang="fr-FR" dirty="0" smtClean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standard :</a:t>
            </a:r>
            <a:endParaRPr lang="fr-FR" dirty="0">
              <a:solidFill>
                <a:srgbClr val="00B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976872" y="3073397"/>
            <a:ext cx="4818888" cy="2717801"/>
          </a:xfrm>
        </p:spPr>
        <p:txBody>
          <a:bodyPr/>
          <a:lstStyle/>
          <a:p>
            <a:pPr marL="0" indent="0">
              <a:buNone/>
            </a:pPr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C’est le </a:t>
            </a:r>
            <a:r>
              <a:rPr lang="fr-FR" b="1" dirty="0" smtClean="0">
                <a:solidFill>
                  <a:schemeClr val="bg2">
                    <a:lumMod val="25000"/>
                  </a:schemeClr>
                </a:solidFill>
              </a:rPr>
              <a:t>langage de base </a:t>
            </a:r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.</a:t>
            </a:r>
            <a:endParaRPr lang="fr-FR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2632" y="230065"/>
            <a:ext cx="609600" cy="609600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968" y="334516"/>
            <a:ext cx="850201" cy="505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0664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>
                <a:solidFill>
                  <a:srgbClr val="00B050"/>
                </a:solidFill>
              </a:rPr>
              <a:t>       </a:t>
            </a:r>
            <a:r>
              <a:rPr lang="fr-FR" u="sng" dirty="0" smtClean="0">
                <a:solidFill>
                  <a:srgbClr val="00B050"/>
                </a:solidFill>
              </a:rPr>
              <a:t>Avantages clés et limites du W3.css:</a:t>
            </a:r>
            <a:endParaRPr lang="fr-FR" u="sng" dirty="0">
              <a:solidFill>
                <a:srgbClr val="00B050"/>
              </a:solidFill>
            </a:endParaRP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370019" y="1627632"/>
            <a:ext cx="4649783" cy="621853"/>
          </a:xfrm>
        </p:spPr>
        <p:txBody>
          <a:bodyPr/>
          <a:lstStyle/>
          <a:p>
            <a:r>
              <a:rPr lang="fr-FR" dirty="0" smtClean="0"/>
              <a:t>      </a:t>
            </a:r>
            <a:r>
              <a:rPr lang="fr-FR" dirty="0" smtClean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Avantages clés :</a:t>
            </a:r>
            <a:endParaRPr lang="fr-FR" dirty="0">
              <a:solidFill>
                <a:srgbClr val="00B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141410" y="2249485"/>
            <a:ext cx="4878391" cy="4379915"/>
          </a:xfrm>
        </p:spPr>
        <p:txBody>
          <a:bodyPr>
            <a:normAutofit fontScale="92500"/>
          </a:bodyPr>
          <a:lstStyle/>
          <a:p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Légèreté et compacité (environ 23 ko).</a:t>
            </a:r>
          </a:p>
          <a:p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Indépendance vis-à-vis de JavaScript.</a:t>
            </a:r>
          </a:p>
          <a:p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Facilité d’apprentissage et d’utilisation.</a:t>
            </a:r>
          </a:p>
          <a:p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Conception « mobile-first » et responsive.</a:t>
            </a:r>
          </a:p>
          <a:p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Normalisation(ex:</a:t>
            </a:r>
            <a:r>
              <a:rPr lang="fr-FR" b="1" dirty="0" smtClean="0">
                <a:solidFill>
                  <a:schemeClr val="bg2">
                    <a:lumMod val="25000"/>
                  </a:schemeClr>
                </a:solidFill>
              </a:rPr>
              <a:t> flottants </a:t>
            </a:r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au lieu de </a:t>
            </a:r>
            <a:r>
              <a:rPr lang="fr-FR" b="1" dirty="0" err="1" smtClean="0">
                <a:solidFill>
                  <a:schemeClr val="bg2">
                    <a:lumMod val="25000"/>
                  </a:schemeClr>
                </a:solidFill>
              </a:rPr>
              <a:t>flexbox</a:t>
            </a:r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) .</a:t>
            </a:r>
            <a:endParaRPr lang="fr-FR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400808" y="1627632"/>
            <a:ext cx="4646602" cy="621853"/>
          </a:xfrm>
        </p:spPr>
        <p:txBody>
          <a:bodyPr/>
          <a:lstStyle/>
          <a:p>
            <a:r>
              <a:rPr lang="fr-FR" dirty="0" smtClean="0"/>
              <a:t>                 </a:t>
            </a:r>
            <a:r>
              <a:rPr lang="fr-FR" dirty="0" smtClean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Limites :</a:t>
            </a:r>
            <a:endParaRPr lang="fr-FR" dirty="0">
              <a:solidFill>
                <a:srgbClr val="00B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249485"/>
            <a:ext cx="4875210" cy="4379915"/>
          </a:xfrm>
        </p:spPr>
        <p:txBody>
          <a:bodyPr/>
          <a:lstStyle/>
          <a:p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Moins de fonctionnalités complexes.</a:t>
            </a:r>
          </a:p>
          <a:p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Moins de ressources et de communauté (moins vaste que celle de </a:t>
            </a:r>
            <a:r>
              <a:rPr lang="fr-FR" dirty="0" err="1" smtClean="0">
                <a:solidFill>
                  <a:schemeClr val="bg2">
                    <a:lumMod val="25000"/>
                  </a:schemeClr>
                </a:solidFill>
              </a:rPr>
              <a:t>bootstrap</a:t>
            </a:r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).</a:t>
            </a:r>
          </a:p>
          <a:p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Uniformité visuelle potentielle.</a:t>
            </a:r>
          </a:p>
          <a:p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Dépendance à W3schools.</a:t>
            </a:r>
          </a:p>
          <a:p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Code potentiellement « gonflé ».</a:t>
            </a:r>
            <a:endParaRPr lang="fr-FR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2632" y="230065"/>
            <a:ext cx="609600" cy="609600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968" y="334516"/>
            <a:ext cx="850201" cy="505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287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                        </a:t>
            </a:r>
            <a:r>
              <a:rPr lang="fr-FR" u="sng" dirty="0" smtClean="0">
                <a:solidFill>
                  <a:srgbClr val="00B050"/>
                </a:solidFill>
              </a:rPr>
              <a:t>Conclusion:</a:t>
            </a:r>
            <a:endParaRPr lang="fr-FR" u="sng" dirty="0">
              <a:solidFill>
                <a:srgbClr val="00B050"/>
              </a:solidFill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En conclusion , W3.CSS est idéal pour sa simplicité et 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s</a:t>
            </a:r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a performance. C’est un </a:t>
            </a:r>
            <a:r>
              <a:rPr lang="fr-FR" b="1" dirty="0" err="1" smtClean="0">
                <a:solidFill>
                  <a:schemeClr val="bg2">
                    <a:lumMod val="25000"/>
                  </a:schemeClr>
                </a:solidFill>
              </a:rPr>
              <a:t>framework</a:t>
            </a:r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 facile à apprendre. Cependant, elle est moins riche en fonctionnalités et aussi il est moins soutenu 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p</a:t>
            </a:r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ar la communauté. EN bref, il est efficace si vous avez moins de temps pour développer un site web.</a:t>
            </a:r>
          </a:p>
          <a:p>
            <a:endParaRPr lang="fr-FR" dirty="0">
              <a:solidFill>
                <a:schemeClr val="bg2">
                  <a:lumMod val="25000"/>
                </a:schemeClr>
              </a:solidFill>
            </a:endParaRPr>
          </a:p>
          <a:p>
            <a:endParaRPr lang="fr-FR" dirty="0" smtClean="0">
              <a:solidFill>
                <a:schemeClr val="bg2">
                  <a:lumMod val="25000"/>
                </a:schemeClr>
              </a:solidFill>
            </a:endParaRPr>
          </a:p>
          <a:p>
            <a:pPr marL="0" indent="0">
              <a:buNone/>
            </a:pPr>
            <a:r>
              <a:rPr lang="fr-FR" dirty="0" smtClean="0">
                <a:solidFill>
                  <a:schemeClr val="bg2">
                    <a:lumMod val="25000"/>
                  </a:schemeClr>
                </a:solidFill>
              </a:rPr>
              <a:t>                                                                                             FIN.</a:t>
            </a:r>
            <a:endParaRPr lang="fr-FR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2632" y="230065"/>
            <a:ext cx="609600" cy="609600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968" y="334516"/>
            <a:ext cx="850201" cy="505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Personnalisé 1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9454C3"/>
      </a:hlink>
      <a:folHlink>
        <a:srgbClr val="3EBBF0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377</TotalTime>
  <Words>487</Words>
  <Application>Microsoft Office PowerPoint</Application>
  <PresentationFormat>Grand écran</PresentationFormat>
  <Paragraphs>100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Arial</vt:lpstr>
      <vt:lpstr>Arial Rounded MT Bold</vt:lpstr>
      <vt:lpstr>Trebuchet MS</vt:lpstr>
      <vt:lpstr>Tw Cen MT</vt:lpstr>
      <vt:lpstr>Circuit</vt:lpstr>
      <vt:lpstr>                 W3.css </vt:lpstr>
      <vt:lpstr>Introduction a w3.css:</vt:lpstr>
      <vt:lpstr>                Installation et utilisation :</vt:lpstr>
      <vt:lpstr>             Le responsive design intégré:</vt:lpstr>
      <vt:lpstr>            Stylisation : couleurs et éléments        </vt:lpstr>
      <vt:lpstr>                 composants et modèles :</vt:lpstr>
      <vt:lpstr>                 W3.CSS vs css standard :</vt:lpstr>
      <vt:lpstr>       Avantages clés et limites du W3.css:</vt:lpstr>
      <vt:lpstr>                        Conclusion: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W3.css</dc:title>
  <dc:creator>WINDOWS 11</dc:creator>
  <cp:lastModifiedBy>WINDOWS 11</cp:lastModifiedBy>
  <cp:revision>42</cp:revision>
  <dcterms:created xsi:type="dcterms:W3CDTF">2025-11-19T10:36:54Z</dcterms:created>
  <dcterms:modified xsi:type="dcterms:W3CDTF">2025-11-21T06:02:36Z</dcterms:modified>
</cp:coreProperties>
</file>